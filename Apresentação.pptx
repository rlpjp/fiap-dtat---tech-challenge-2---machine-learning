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ns Bold" charset="1" panose="020B0806030504020204"/>
      <p:regular r:id="rId22"/>
    </p:embeddedFont>
    <p:embeddedFont>
      <p:font typeface="Open Sans" charset="1" panose="020B0606030504020204"/>
      <p:regular r:id="rId23"/>
    </p:embeddedFont>
    <p:embeddedFont>
      <p:font typeface="Calibri (MS)" charset="1" panose="020F0502020204030204"/>
      <p:regular r:id="rId24"/>
    </p:embeddedFont>
    <p:embeddedFont>
      <p:font typeface="Cambria Bold" charset="1" panose="02040803050406030204"/>
      <p:regular r:id="rId26"/>
    </p:embeddedFont>
    <p:embeddedFont>
      <p:font typeface="Calibri (MS) Bold" charset="1" panose="020F0702030404030204"/>
      <p:regular r:id="rId27"/>
    </p:embeddedFont>
    <p:embeddedFont>
      <p:font typeface="Open Sans Italics" charset="1" panose="020B0606030504020204"/>
      <p:regular r:id="rId28"/>
    </p:embeddedFont>
    <p:embeddedFont>
      <p:font typeface="Open Sans Bold Italics" charset="1" panose="020B0806030504020204"/>
      <p:regular r:id="rId32"/>
    </p:embeddedFont>
    <p:embeddedFont>
      <p:font typeface="Calibri (MS) Italics" charset="1" panose="020F05020202040A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1F3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127480" y="-301752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6D2E46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29000" y="6858000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A26769">
                <a:alpha val="2000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1165860"/>
            <a:ext cx="1234440" cy="1234440"/>
            <a:chOff x="0" y="0"/>
            <a:chExt cx="1645920" cy="1645920"/>
          </a:xfrm>
        </p:grpSpPr>
        <p:sp>
          <p:nvSpPr>
            <p:cNvPr name="Freeform 9" id="9" descr="icons_wineGlass_cream.png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158642"/>
            <a:ext cx="14813280" cy="2053438"/>
            <a:chOff x="0" y="0"/>
            <a:chExt cx="19751040" cy="27379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2737917"/>
            </a:xfrm>
            <a:custGeom>
              <a:avLst/>
              <a:gdLst/>
              <a:ahLst/>
              <a:cxnLst/>
              <a:rect r="r" b="b" t="t" l="l"/>
              <a:pathLst>
                <a:path h="2737917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737917"/>
                  </a:lnTo>
                  <a:lnTo>
                    <a:pt x="0" y="27379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25" r="0" b="-773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9751040" cy="2747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40"/>
                </a:lnSpc>
              </a:pPr>
              <a:r>
                <a:rPr lang="en-US" sz="57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CLASSIFICAÇÃO DA QUALIDADE DE VINHOS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5006340"/>
            <a:ext cx="13030200" cy="1234440"/>
            <a:chOff x="0" y="0"/>
            <a:chExt cx="1737360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73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737360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Como o Machine Learning pode prever a qualidade de um vinho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antes mesmo da avaliação sensorial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5390" y="8073390"/>
            <a:ext cx="4427220" cy="38100"/>
            <a:chOff x="0" y="0"/>
            <a:chExt cx="5902960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02960" cy="50800"/>
            </a:xfrm>
            <a:custGeom>
              <a:avLst/>
              <a:gdLst/>
              <a:ahLst/>
              <a:cxnLst/>
              <a:rect r="r" b="b" t="t" l="l"/>
              <a:pathLst>
                <a:path h="50800" w="5902960">
                  <a:moveTo>
                    <a:pt x="0" y="0"/>
                  </a:moveTo>
                  <a:lnTo>
                    <a:pt x="5902960" y="508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2214161" r="0" b="-2214161"/>
              </a:stretch>
            </a:blipFill>
            <a:ln w="38100" cap="sq">
              <a:solidFill>
                <a:srgbClr val="C9A24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440" y="8366760"/>
            <a:ext cx="12344400" cy="548640"/>
            <a:chOff x="0" y="0"/>
            <a:chExt cx="164592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Challenge – Fase 2  •  Pós-Tech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9360" cy="10287000"/>
            <a:chOff x="0" y="0"/>
            <a:chExt cx="84124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25980" y="2479035"/>
            <a:ext cx="2057400" cy="2057400"/>
            <a:chOff x="0" y="0"/>
            <a:chExt cx="2743200" cy="2743200"/>
          </a:xfrm>
        </p:grpSpPr>
        <p:sp>
          <p:nvSpPr>
            <p:cNvPr name="Freeform 5" id="5" descr="icons_balance_berry.png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5314950"/>
            <a:ext cx="4937760" cy="2468880"/>
            <a:chOff x="0" y="0"/>
            <a:chExt cx="6583680" cy="3291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6583680" cy="3358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26"/>
                </a:lnSpc>
              </a:pPr>
              <a:r>
                <a:rPr lang="en-US" sz="2700" b="true">
                  <a:solidFill>
                    <a:srgbClr val="6D2E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Hoje, a qualidade</a:t>
              </a:r>
            </a:p>
            <a:p>
              <a:pPr algn="ctr">
                <a:lnSpc>
                  <a:spcPts val="3726"/>
                </a:lnSpc>
              </a:pPr>
              <a:r>
                <a:rPr lang="en-US" sz="2700" b="true">
                  <a:solidFill>
                    <a:srgbClr val="6D2E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um vinho é</a:t>
              </a:r>
            </a:p>
            <a:p>
              <a:pPr algn="ctr">
                <a:lnSpc>
                  <a:spcPts val="3726"/>
                </a:lnSpc>
              </a:pPr>
              <a:r>
                <a:rPr lang="en-US" sz="2700" b="true">
                  <a:solidFill>
                    <a:srgbClr val="6D2E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definida por</a:t>
              </a:r>
            </a:p>
            <a:p>
              <a:pPr algn="ctr">
                <a:lnSpc>
                  <a:spcPts val="3726"/>
                </a:lnSpc>
              </a:pPr>
              <a:r>
                <a:rPr lang="en-US" sz="2700" b="true">
                  <a:solidFill>
                    <a:srgbClr val="6D2E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degustação humana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95160" y="960120"/>
            <a:ext cx="10287000" cy="685800"/>
            <a:chOff x="0" y="0"/>
            <a:chExt cx="13716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7160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A267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DESAFIO DE NEGÓCIO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95160" y="1577340"/>
            <a:ext cx="10287000" cy="1512057"/>
            <a:chOff x="0" y="0"/>
            <a:chExt cx="13716000" cy="20160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0" cy="2016075"/>
            </a:xfrm>
            <a:custGeom>
              <a:avLst/>
              <a:gdLst/>
              <a:ahLst/>
              <a:cxnLst/>
              <a:rect r="r" b="b" t="t" l="l"/>
              <a:pathLst>
                <a:path h="2016075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016075"/>
                  </a:lnTo>
                  <a:lnTo>
                    <a:pt x="0" y="20160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278" r="0" b="-6884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716000" cy="201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Uma avaliação valiosa, mas lenta e subjetiva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995160" y="3507735"/>
            <a:ext cx="192024" cy="192024"/>
            <a:chOff x="0" y="0"/>
            <a:chExt cx="256032" cy="256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475220" y="3089397"/>
            <a:ext cx="9738360" cy="1028700"/>
            <a:chOff x="0" y="0"/>
            <a:chExt cx="1298448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84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458" r="0" b="-13445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12984480" cy="1476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3A1F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Depende de especialistas, aroma, sabor e experiência pessoal — o resultado pode variar de avaliador para avaliador.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95160" y="4704588"/>
            <a:ext cx="192024" cy="192024"/>
            <a:chOff x="0" y="0"/>
            <a:chExt cx="256032" cy="256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75220" y="4286250"/>
            <a:ext cx="9738360" cy="1028700"/>
            <a:chOff x="0" y="0"/>
            <a:chExt cx="1298448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984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458" r="0" b="-13445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12984480" cy="1476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3A1F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 um processo demorado, aplicado normalmente apenas no fim da produção.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95160" y="6043546"/>
            <a:ext cx="192024" cy="192024"/>
            <a:chOff x="0" y="0"/>
            <a:chExt cx="256032" cy="2560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9A24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75220" y="5625208"/>
            <a:ext cx="9738360" cy="1028700"/>
            <a:chOff x="0" y="0"/>
            <a:chExt cx="1298448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84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458" r="0" b="-13445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12984480" cy="1476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3A1F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Dificulta ajustes rápidos ao longo do processo produtivo.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95160" y="7543800"/>
            <a:ext cx="10012680" cy="1851660"/>
            <a:chOff x="0" y="0"/>
            <a:chExt cx="13350240" cy="2468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350239" cy="2468880"/>
            </a:xfrm>
            <a:custGeom>
              <a:avLst/>
              <a:gdLst/>
              <a:ahLst/>
              <a:cxnLst/>
              <a:rect r="r" b="b" t="t" l="l"/>
              <a:pathLst>
                <a:path h="246888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475220" y="7708392"/>
            <a:ext cx="9189720" cy="480060"/>
            <a:chOff x="0" y="0"/>
            <a:chExt cx="1225296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252960" cy="640080"/>
            </a:xfrm>
            <a:custGeom>
              <a:avLst/>
              <a:gdLst/>
              <a:ahLst/>
              <a:cxnLst/>
              <a:rect r="r" b="b" t="t" l="l"/>
              <a:pathLst>
                <a:path h="64008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2999" r="0" b="-32299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22529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pergunta que este projeto responde: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475220" y="8161020"/>
            <a:ext cx="9189720" cy="1097280"/>
            <a:chOff x="0" y="0"/>
            <a:chExt cx="1225296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252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2529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9"/>
                </a:lnSpc>
              </a:pPr>
              <a:r>
                <a:rPr lang="en-US" sz="2050" i="true">
                  <a:solidFill>
                    <a:srgbClr val="FFFFFF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É possível prever a qualidade do vinho usando apenas dados de laboratório, de forma objetiva e rápida?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822960"/>
            <a:ext cx="10972800" cy="685800"/>
            <a:chOff x="0" y="0"/>
            <a:chExt cx="14630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A267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NOSSO OBJETIVO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2344400" cy="1783080"/>
            <a:chOff x="0" y="0"/>
            <a:chExt cx="16459200" cy="2377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459200" cy="2425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44"/>
                </a:lnSpc>
              </a:pPr>
              <a:r>
                <a:rPr lang="en-US" sz="420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Treinar </a:t>
              </a:r>
              <a:r>
                <a:rPr lang="en-US" sz="420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um modelo para reconhecer</a:t>
              </a:r>
            </a:p>
            <a:p>
              <a:pPr algn="l">
                <a:lnSpc>
                  <a:spcPts val="5544"/>
                </a:lnSpc>
              </a:pPr>
              <a:r>
                <a:rPr lang="en-US" sz="420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um vinho de alta qualidade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771900"/>
            <a:ext cx="7818120" cy="5107190"/>
            <a:chOff x="0" y="0"/>
            <a:chExt cx="10424160" cy="6809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24161" cy="6809587"/>
            </a:xfrm>
            <a:custGeom>
              <a:avLst/>
              <a:gdLst/>
              <a:ahLst/>
              <a:cxnLst/>
              <a:rect r="r" b="b" t="t" l="l"/>
              <a:pathLst>
                <a:path h="6809587" w="10424161">
                  <a:moveTo>
                    <a:pt x="0" y="209526"/>
                  </a:moveTo>
                  <a:cubicBezTo>
                    <a:pt x="0" y="93850"/>
                    <a:pt x="98298" y="0"/>
                    <a:pt x="219456" y="0"/>
                  </a:cubicBezTo>
                  <a:lnTo>
                    <a:pt x="10204704" y="0"/>
                  </a:lnTo>
                  <a:cubicBezTo>
                    <a:pt x="10325862" y="0"/>
                    <a:pt x="10424161" y="93850"/>
                    <a:pt x="10424161" y="209526"/>
                  </a:cubicBezTo>
                  <a:lnTo>
                    <a:pt x="10424161" y="6600061"/>
                  </a:lnTo>
                  <a:cubicBezTo>
                    <a:pt x="10424161" y="6715737"/>
                    <a:pt x="10325862" y="6809587"/>
                    <a:pt x="10204704" y="6809587"/>
                  </a:cubicBezTo>
                  <a:lnTo>
                    <a:pt x="219456" y="6809587"/>
                  </a:lnTo>
                  <a:cubicBezTo>
                    <a:pt x="98298" y="6809587"/>
                    <a:pt x="0" y="6715737"/>
                    <a:pt x="0" y="6600061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760" y="4251960"/>
            <a:ext cx="1097280" cy="1097280"/>
            <a:chOff x="0" y="0"/>
            <a:chExt cx="1463040" cy="1463040"/>
          </a:xfrm>
        </p:grpSpPr>
        <p:sp>
          <p:nvSpPr>
            <p:cNvPr name="Freeform 11" id="11" descr="icons_checkCircle_cream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80360" y="4320540"/>
            <a:ext cx="5623560" cy="548640"/>
            <a:chOff x="0" y="0"/>
            <a:chExt cx="74980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98080" cy="731520"/>
            </a:xfrm>
            <a:custGeom>
              <a:avLst/>
              <a:gdLst/>
              <a:ahLst/>
              <a:cxnLst/>
              <a:rect r="r" b="b" t="t" l="l"/>
              <a:pathLst>
                <a:path h="7315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498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ECE2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VINHO DE ALTA QUALIDADE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44207" y="3697443"/>
            <a:ext cx="5623560" cy="3303594"/>
            <a:chOff x="0" y="0"/>
            <a:chExt cx="7498080" cy="44047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98080" cy="4404792"/>
            </a:xfrm>
            <a:custGeom>
              <a:avLst/>
              <a:gdLst/>
              <a:ahLst/>
              <a:cxnLst/>
              <a:rect r="r" b="b" t="t" l="l"/>
              <a:pathLst>
                <a:path h="440479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37" r="0" b="523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498080" cy="4461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5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Nota     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08760" y="6650234"/>
            <a:ext cx="6720840" cy="1508760"/>
            <a:chOff x="0" y="0"/>
            <a:chExt cx="8961120" cy="2011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611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896112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Vinhos que se destacam na avaliação</a:t>
              </a:r>
            </a:p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sensorial dos especialistas.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89720" y="3771900"/>
            <a:ext cx="7818120" cy="5107190"/>
            <a:chOff x="0" y="0"/>
            <a:chExt cx="10424160" cy="68095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1" cy="6809587"/>
            </a:xfrm>
            <a:custGeom>
              <a:avLst/>
              <a:gdLst/>
              <a:ahLst/>
              <a:cxnLst/>
              <a:rect r="r" b="b" t="t" l="l"/>
              <a:pathLst>
                <a:path h="6809587" w="10424161">
                  <a:moveTo>
                    <a:pt x="0" y="209526"/>
                  </a:moveTo>
                  <a:cubicBezTo>
                    <a:pt x="0" y="93850"/>
                    <a:pt x="98298" y="0"/>
                    <a:pt x="219456" y="0"/>
                  </a:cubicBezTo>
                  <a:lnTo>
                    <a:pt x="10204704" y="0"/>
                  </a:lnTo>
                  <a:cubicBezTo>
                    <a:pt x="10325862" y="0"/>
                    <a:pt x="10424161" y="93850"/>
                    <a:pt x="10424161" y="209526"/>
                  </a:cubicBezTo>
                  <a:lnTo>
                    <a:pt x="10424161" y="6600061"/>
                  </a:lnTo>
                  <a:cubicBezTo>
                    <a:pt x="10424161" y="6715737"/>
                    <a:pt x="10325862" y="6809587"/>
                    <a:pt x="10204704" y="6809587"/>
                  </a:cubicBezTo>
                  <a:lnTo>
                    <a:pt x="219456" y="6809587"/>
                  </a:lnTo>
                  <a:cubicBezTo>
                    <a:pt x="98298" y="6809587"/>
                    <a:pt x="0" y="6715737"/>
                    <a:pt x="0" y="6600061"/>
                  </a:cubicBez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38360" y="4251960"/>
            <a:ext cx="1097280" cy="1097280"/>
            <a:chOff x="0" y="0"/>
            <a:chExt cx="1463040" cy="1463040"/>
          </a:xfrm>
        </p:grpSpPr>
        <p:sp>
          <p:nvSpPr>
            <p:cNvPr name="Freeform 24" id="24" descr="icons_clipboard_rose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09960" y="4320540"/>
            <a:ext cx="5623560" cy="548640"/>
            <a:chOff x="0" y="0"/>
            <a:chExt cx="749808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98080" cy="731520"/>
            </a:xfrm>
            <a:custGeom>
              <a:avLst/>
              <a:gdLst/>
              <a:ahLst/>
              <a:cxnLst/>
              <a:rect r="r" b="b" t="t" l="l"/>
              <a:pathLst>
                <a:path h="7315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498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A267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VINHO DE BAIXA/MÉDIA QUALIDADE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111865" y="3697443"/>
            <a:ext cx="5623560" cy="3303594"/>
            <a:chOff x="0" y="0"/>
            <a:chExt cx="7498080" cy="4404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98080" cy="4404792"/>
            </a:xfrm>
            <a:custGeom>
              <a:avLst/>
              <a:gdLst/>
              <a:ahLst/>
              <a:cxnLst/>
              <a:rect r="r" b="b" t="t" l="l"/>
              <a:pathLst>
                <a:path h="4404792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37" r="0" b="523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749808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6D2E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Nota    7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38360" y="6650234"/>
            <a:ext cx="6720840" cy="1508760"/>
            <a:chOff x="0" y="0"/>
            <a:chExt cx="8961120" cy="2011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611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96" r="0" b="-3679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896112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3A1F28"/>
                  </a:solidFill>
                  <a:latin typeface="Open Sans"/>
                  <a:ea typeface="Open Sans"/>
                  <a:cs typeface="Open Sans"/>
                  <a:sym typeface="Open Sans"/>
                </a:rPr>
                <a:t>A grande maioria da produção,</a:t>
              </a:r>
            </a:p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3A1F28"/>
                  </a:solidFill>
                  <a:latin typeface="Open Sans"/>
                  <a:ea typeface="Open Sans"/>
                  <a:cs typeface="Open Sans"/>
                  <a:sym typeface="Open Sans"/>
                </a:rPr>
                <a:t>com qualidade padrão ou regular.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4079615" y="5145059"/>
            <a:ext cx="401726" cy="408361"/>
          </a:xfrm>
          <a:custGeom>
            <a:avLst/>
            <a:gdLst/>
            <a:ahLst/>
            <a:cxnLst/>
            <a:rect r="r" b="b" t="t" l="l"/>
            <a:pathLst>
              <a:path h="408361" w="401726">
                <a:moveTo>
                  <a:pt x="0" y="0"/>
                </a:moveTo>
                <a:lnTo>
                  <a:pt x="401725" y="0"/>
                </a:lnTo>
                <a:lnTo>
                  <a:pt x="401725" y="408362"/>
                </a:lnTo>
                <a:lnTo>
                  <a:pt x="0" y="408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10800000">
            <a:off x="12487331" y="5208521"/>
            <a:ext cx="258675" cy="344900"/>
          </a:xfrm>
          <a:custGeom>
            <a:avLst/>
            <a:gdLst/>
            <a:ahLst/>
            <a:cxnLst/>
            <a:rect r="r" b="b" t="t" l="l"/>
            <a:pathLst>
              <a:path h="344900" w="258675">
                <a:moveTo>
                  <a:pt x="0" y="0"/>
                </a:moveTo>
                <a:lnTo>
                  <a:pt x="258675" y="0"/>
                </a:lnTo>
                <a:lnTo>
                  <a:pt x="258675" y="344900"/>
                </a:lnTo>
                <a:lnTo>
                  <a:pt x="0" y="344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685800"/>
            <a:chOff x="0" y="0"/>
            <a:chExt cx="14630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BASE DE CONHECIMENTO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71600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0312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Quase 1.150 vinhos analisados em laboratório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948940"/>
            <a:ext cx="5074920" cy="2880360"/>
            <a:chOff x="0" y="0"/>
            <a:chExt cx="6766560" cy="3840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665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3657600"/>
                  </a:lnTo>
                  <a:cubicBezTo>
                    <a:pt x="6766560" y="3758565"/>
                    <a:pt x="6684645" y="3840480"/>
                    <a:pt x="658368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3154680"/>
            <a:ext cx="5074920" cy="1371600"/>
            <a:chOff x="0" y="0"/>
            <a:chExt cx="676656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66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76656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C9A2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1.143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4457700"/>
            <a:ext cx="5074920" cy="1234440"/>
            <a:chOff x="0" y="0"/>
            <a:chExt cx="676656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76656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Amostras de</a:t>
              </a:r>
            </a:p>
            <a:p>
              <a:pPr algn="ctr">
                <a:lnSpc>
                  <a:spcPts val="2690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vinho tinto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77940" y="2948940"/>
            <a:ext cx="5074920" cy="2880360"/>
            <a:chOff x="0" y="0"/>
            <a:chExt cx="6766560" cy="3840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665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3657600"/>
                  </a:lnTo>
                  <a:cubicBezTo>
                    <a:pt x="6766560" y="3758565"/>
                    <a:pt x="6684645" y="3840480"/>
                    <a:pt x="658368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77940" y="3154680"/>
            <a:ext cx="5074920" cy="1371600"/>
            <a:chOff x="0" y="0"/>
            <a:chExt cx="676656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66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76656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C9A2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77940" y="4457700"/>
            <a:ext cx="5074920" cy="1234440"/>
            <a:chOff x="0" y="0"/>
            <a:chExt cx="676656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76656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Medidas físico-</a:t>
              </a:r>
            </a:p>
            <a:p>
              <a:pPr algn="ctr">
                <a:lnSpc>
                  <a:spcPts val="2690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químicas por amostra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95760" y="2948940"/>
            <a:ext cx="5074920" cy="2880360"/>
            <a:chOff x="0" y="0"/>
            <a:chExt cx="6766560" cy="3840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665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3657600"/>
                  </a:lnTo>
                  <a:cubicBezTo>
                    <a:pt x="6766560" y="3758565"/>
                    <a:pt x="6684645" y="3840480"/>
                    <a:pt x="658368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795760" y="3154680"/>
            <a:ext cx="5074920" cy="1371600"/>
            <a:chOff x="0" y="0"/>
            <a:chExt cx="676656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66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76656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C9A2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795760" y="4457700"/>
            <a:ext cx="5074920" cy="1234440"/>
            <a:chOff x="0" y="0"/>
            <a:chExt cx="676656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76656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Categorias finais:</a:t>
              </a:r>
            </a:p>
            <a:p>
              <a:pPr algn="ctr">
                <a:lnSpc>
                  <a:spcPts val="2690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alta e baixa/média qualidade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" y="6309360"/>
            <a:ext cx="10972800" cy="548640"/>
            <a:chOff x="0" y="0"/>
            <a:chExt cx="146304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ECE2D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Exemplos de variáveis medidas em laboratório: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" y="7063740"/>
            <a:ext cx="2359152" cy="685800"/>
            <a:chOff x="0" y="0"/>
            <a:chExt cx="3145536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45536" cy="914400"/>
            </a:xfrm>
            <a:custGeom>
              <a:avLst/>
              <a:gdLst/>
              <a:ahLst/>
              <a:cxnLst/>
              <a:rect r="r" b="b" t="t" l="l"/>
              <a:pathLst>
                <a:path h="914400" w="3145536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2688336" y="0"/>
                  </a:lnTo>
                  <a:cubicBezTo>
                    <a:pt x="2940812" y="0"/>
                    <a:pt x="3145536" y="204724"/>
                    <a:pt x="3145536" y="457200"/>
                  </a:cubicBezTo>
                  <a:cubicBezTo>
                    <a:pt x="3145536" y="709676"/>
                    <a:pt x="2940812" y="914400"/>
                    <a:pt x="2688336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A2676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0120" y="7063740"/>
            <a:ext cx="2359152" cy="685800"/>
            <a:chOff x="0" y="0"/>
            <a:chExt cx="3145536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45536" cy="914400"/>
            </a:xfrm>
            <a:custGeom>
              <a:avLst/>
              <a:gdLst/>
              <a:ahLst/>
              <a:cxnLst/>
              <a:rect r="r" b="b" t="t" l="l"/>
              <a:pathLst>
                <a:path h="914400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8" r="0" b="-1702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145536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Teor Alcoólico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593592" y="7063740"/>
            <a:ext cx="1261872" cy="685800"/>
            <a:chOff x="0" y="0"/>
            <a:chExt cx="1682496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82496" cy="914400"/>
            </a:xfrm>
            <a:custGeom>
              <a:avLst/>
              <a:gdLst/>
              <a:ahLst/>
              <a:cxnLst/>
              <a:rect r="r" b="b" t="t" l="l"/>
              <a:pathLst>
                <a:path h="914400" w="1682496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1225296" y="0"/>
                  </a:lnTo>
                  <a:cubicBezTo>
                    <a:pt x="1477772" y="0"/>
                    <a:pt x="1682496" y="204724"/>
                    <a:pt x="1682496" y="457200"/>
                  </a:cubicBezTo>
                  <a:cubicBezTo>
                    <a:pt x="1682496" y="709676"/>
                    <a:pt x="1477772" y="914400"/>
                    <a:pt x="1225296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A2676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593592" y="7063740"/>
            <a:ext cx="1261872" cy="685800"/>
            <a:chOff x="0" y="0"/>
            <a:chExt cx="1682496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82496" cy="914400"/>
            </a:xfrm>
            <a:custGeom>
              <a:avLst/>
              <a:gdLst/>
              <a:ahLst/>
              <a:cxnLst/>
              <a:rect r="r" b="b" t="t" l="l"/>
              <a:pathLst>
                <a:path h="914400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682496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Acidez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129784" y="7063740"/>
            <a:ext cx="2496312" cy="685800"/>
            <a:chOff x="0" y="0"/>
            <a:chExt cx="3328416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28416" cy="914400"/>
            </a:xfrm>
            <a:custGeom>
              <a:avLst/>
              <a:gdLst/>
              <a:ahLst/>
              <a:cxnLst/>
              <a:rect r="r" b="b" t="t" l="l"/>
              <a:pathLst>
                <a:path h="914400" w="3328416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2871216" y="0"/>
                  </a:lnTo>
                  <a:cubicBezTo>
                    <a:pt x="3123692" y="0"/>
                    <a:pt x="3328416" y="204724"/>
                    <a:pt x="3328416" y="457200"/>
                  </a:cubicBezTo>
                  <a:cubicBezTo>
                    <a:pt x="3328416" y="709676"/>
                    <a:pt x="3123692" y="914400"/>
                    <a:pt x="2871216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A2676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129784" y="7063740"/>
            <a:ext cx="2496312" cy="685800"/>
            <a:chOff x="0" y="0"/>
            <a:chExt cx="3328416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28416" cy="914400"/>
            </a:xfrm>
            <a:custGeom>
              <a:avLst/>
              <a:gdLst/>
              <a:ahLst/>
              <a:cxnLst/>
              <a:rect r="r" b="b" t="t" l="l"/>
              <a:pathLst>
                <a:path h="914400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25" r="0" b="-209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328416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Açúcar Residual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900416" y="7063740"/>
            <a:ext cx="1673352" cy="685800"/>
            <a:chOff x="0" y="0"/>
            <a:chExt cx="2231136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31136" cy="914400"/>
            </a:xfrm>
            <a:custGeom>
              <a:avLst/>
              <a:gdLst/>
              <a:ahLst/>
              <a:cxnLst/>
              <a:rect r="r" b="b" t="t" l="l"/>
              <a:pathLst>
                <a:path h="914400" w="2231136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1773936" y="0"/>
                  </a:lnTo>
                  <a:cubicBezTo>
                    <a:pt x="2026412" y="0"/>
                    <a:pt x="2231136" y="204724"/>
                    <a:pt x="2231136" y="457200"/>
                  </a:cubicBezTo>
                  <a:cubicBezTo>
                    <a:pt x="2231136" y="709676"/>
                    <a:pt x="2026412" y="914400"/>
                    <a:pt x="1773936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A2676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900416" y="7063740"/>
            <a:ext cx="1673352" cy="685800"/>
            <a:chOff x="0" y="0"/>
            <a:chExt cx="2231136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31136" cy="914400"/>
            </a:xfrm>
            <a:custGeom>
              <a:avLst/>
              <a:gdLst/>
              <a:ahLst/>
              <a:cxnLst/>
              <a:rect r="r" b="b" t="t" l="l"/>
              <a:pathLst>
                <a:path h="914400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83" t="0" r="-258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31136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Densidade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848088" y="7063740"/>
            <a:ext cx="1536192" cy="685800"/>
            <a:chOff x="0" y="0"/>
            <a:chExt cx="2048256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48256" cy="914400"/>
            </a:xfrm>
            <a:custGeom>
              <a:avLst/>
              <a:gdLst/>
              <a:ahLst/>
              <a:cxnLst/>
              <a:rect r="r" b="b" t="t" l="l"/>
              <a:pathLst>
                <a:path h="914400" w="2048256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1591056" y="0"/>
                  </a:lnTo>
                  <a:cubicBezTo>
                    <a:pt x="1843532" y="0"/>
                    <a:pt x="2048256" y="204724"/>
                    <a:pt x="2048256" y="457200"/>
                  </a:cubicBezTo>
                  <a:cubicBezTo>
                    <a:pt x="2048256" y="709676"/>
                    <a:pt x="1843532" y="914400"/>
                    <a:pt x="1591056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A26769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848088" y="7063740"/>
            <a:ext cx="1536192" cy="685800"/>
            <a:chOff x="0" y="0"/>
            <a:chExt cx="2048256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8256" cy="914400"/>
            </a:xfrm>
            <a:custGeom>
              <a:avLst/>
              <a:gdLst/>
              <a:ahLst/>
              <a:cxnLst/>
              <a:rect r="r" b="b" t="t" l="l"/>
              <a:pathLst>
                <a:path h="914400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78" t="0" r="-7278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048256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Sulfatos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658600" y="7063740"/>
            <a:ext cx="713232" cy="685800"/>
            <a:chOff x="0" y="0"/>
            <a:chExt cx="950976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0976" cy="914400"/>
            </a:xfrm>
            <a:custGeom>
              <a:avLst/>
              <a:gdLst/>
              <a:ahLst/>
              <a:cxnLst/>
              <a:rect r="r" b="b" t="t" l="l"/>
              <a:pathLst>
                <a:path h="914400" w="950976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493776" y="0"/>
                  </a:lnTo>
                  <a:cubicBezTo>
                    <a:pt x="746252" y="0"/>
                    <a:pt x="950976" y="204724"/>
                    <a:pt x="950976" y="457200"/>
                  </a:cubicBezTo>
                  <a:cubicBezTo>
                    <a:pt x="950976" y="709676"/>
                    <a:pt x="746252" y="914400"/>
                    <a:pt x="493776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A2676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658600" y="7063740"/>
            <a:ext cx="713232" cy="685800"/>
            <a:chOff x="0" y="0"/>
            <a:chExt cx="950976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" cy="914400"/>
            </a:xfrm>
            <a:custGeom>
              <a:avLst/>
              <a:gdLst/>
              <a:ahLst/>
              <a:cxnLst/>
              <a:rect r="r" b="b" t="t" l="l"/>
              <a:pathLst>
                <a:path h="914400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368" t="0" r="-73368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50976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646152" y="7063740"/>
            <a:ext cx="2907792" cy="685800"/>
            <a:chOff x="0" y="0"/>
            <a:chExt cx="3877056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877056" cy="914400"/>
            </a:xfrm>
            <a:custGeom>
              <a:avLst/>
              <a:gdLst/>
              <a:ahLst/>
              <a:cxnLst/>
              <a:rect r="r" b="b" t="t" l="l"/>
              <a:pathLst>
                <a:path h="914400" w="3877056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3419856" y="0"/>
                  </a:lnTo>
                  <a:cubicBezTo>
                    <a:pt x="3672332" y="0"/>
                    <a:pt x="3877056" y="204724"/>
                    <a:pt x="3877056" y="457200"/>
                  </a:cubicBezTo>
                  <a:cubicBezTo>
                    <a:pt x="3877056" y="709676"/>
                    <a:pt x="3672332" y="914400"/>
                    <a:pt x="3419856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A26769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646152" y="7063740"/>
            <a:ext cx="2907792" cy="685800"/>
            <a:chOff x="0" y="0"/>
            <a:chExt cx="3877056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77056" cy="914400"/>
            </a:xfrm>
            <a:custGeom>
              <a:avLst/>
              <a:gdLst/>
              <a:ahLst/>
              <a:cxnLst/>
              <a:rect r="r" b="b" t="t" l="l"/>
              <a:pathLst>
                <a:path h="914400" w="3877056">
                  <a:moveTo>
                    <a:pt x="0" y="0"/>
                  </a:moveTo>
                  <a:lnTo>
                    <a:pt x="3877056" y="0"/>
                  </a:lnTo>
                  <a:lnTo>
                    <a:pt x="38770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16" r="0" b="-3261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877056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Dióxido de Enxofre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822960"/>
            <a:ext cx="10972800" cy="685800"/>
            <a:chOff x="0" y="0"/>
            <a:chExt cx="14630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A267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QUE ENCONTRAMOS NOS DADOS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2344400" cy="1097280"/>
            <a:chOff x="0" y="0"/>
            <a:chExt cx="16459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64592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Vinhos de alta qualidade são raros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8503920" cy="1783080"/>
            <a:chOff x="0" y="0"/>
            <a:chExt cx="11338560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385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28" r="0" b="-429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338560" cy="2434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3A1F28"/>
                  </a:solidFill>
                  <a:latin typeface="Open Sans"/>
                  <a:ea typeface="Open Sans"/>
                  <a:cs typeface="Open Sans"/>
                  <a:sym typeface="Open Sans"/>
                </a:rPr>
                <a:t>E</a:t>
              </a:r>
              <a:r>
                <a:rPr lang="en-US" sz="2100">
                  <a:solidFill>
                    <a:srgbClr val="3A1F28"/>
                  </a:solidFill>
                  <a:latin typeface="Open Sans"/>
                  <a:ea typeface="Open Sans"/>
                  <a:cs typeface="Open Sans"/>
                  <a:sym typeface="Open Sans"/>
                </a:rPr>
                <a:t>sse desequilíbrio é um risco real: sem o cuidado certo, um modelo pode parecer preciso no papel e, ainda assim, falhar justamente em apontar os vinhos que mais interessam ao negócio.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48494" y="942594"/>
            <a:ext cx="7746492" cy="8279892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028700" y="6861186"/>
            <a:ext cx="8503920" cy="1851660"/>
            <a:chOff x="0" y="0"/>
            <a:chExt cx="11338560" cy="2468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385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1338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155680" y="0"/>
                  </a:lnTo>
                  <a:cubicBezTo>
                    <a:pt x="11256645" y="0"/>
                    <a:pt x="11338560" y="81915"/>
                    <a:pt x="11338560" y="182880"/>
                  </a:cubicBezTo>
                  <a:lnTo>
                    <a:pt x="11338560" y="2286000"/>
                  </a:lnTo>
                  <a:cubicBezTo>
                    <a:pt x="11338560" y="2386965"/>
                    <a:pt x="11256645" y="2468880"/>
                    <a:pt x="11155680" y="2468880"/>
                  </a:cubicBezTo>
                  <a:lnTo>
                    <a:pt x="182880" y="2468880"/>
                  </a:lnTo>
                  <a:cubicBezTo>
                    <a:pt x="81915" y="2468880"/>
                    <a:pt x="0" y="2386965"/>
                    <a:pt x="0" y="2286000"/>
                  </a:cubicBez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7278381"/>
            <a:ext cx="822960" cy="822960"/>
            <a:chOff x="0" y="0"/>
            <a:chExt cx="1097280" cy="1097280"/>
          </a:xfrm>
        </p:grpSpPr>
        <p:sp>
          <p:nvSpPr>
            <p:cNvPr name="Freeform 15" id="15" descr="icons_warning_berry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468880" y="7066926"/>
            <a:ext cx="6720840" cy="1371600"/>
            <a:chOff x="0" y="0"/>
            <a:chExt cx="896112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61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9611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950" i="true">
                  <a:solidFill>
                    <a:srgbClr val="6D2E46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Apenas 14 em cada 100 vinhos analisados atingem nota de alta qualidade.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567385" y="2861942"/>
            <a:ext cx="855906" cy="56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93109" y="7219958"/>
            <a:ext cx="855906" cy="56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86</a:t>
            </a:r>
            <a:r>
              <a:rPr lang="en-US" b="true" sz="32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%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822960"/>
            <a:ext cx="10972800" cy="685800"/>
            <a:chOff x="0" y="0"/>
            <a:chExt cx="14630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A267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QUE ENCONTRAMOS NOS DADOS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5087600" cy="1097280"/>
            <a:chOff x="0" y="0"/>
            <a:chExt cx="201168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Dois fatores se destacam antes mesmo do modelo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017520"/>
            <a:ext cx="7818120" cy="6035040"/>
            <a:chOff x="0" y="0"/>
            <a:chExt cx="10424160" cy="8046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24161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4241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04704" y="0"/>
                  </a:lnTo>
                  <a:cubicBezTo>
                    <a:pt x="10325862" y="0"/>
                    <a:pt x="10424161" y="98298"/>
                    <a:pt x="10424161" y="219456"/>
                  </a:cubicBezTo>
                  <a:lnTo>
                    <a:pt x="10424161" y="7827264"/>
                  </a:lnTo>
                  <a:cubicBezTo>
                    <a:pt x="10424161" y="7948422"/>
                    <a:pt x="10325862" y="8046720"/>
                    <a:pt x="10204704" y="8046720"/>
                  </a:cubicBezTo>
                  <a:lnTo>
                    <a:pt x="219456" y="8046720"/>
                  </a:lnTo>
                  <a:cubicBezTo>
                    <a:pt x="98298" y="8046720"/>
                    <a:pt x="0" y="7948422"/>
                    <a:pt x="0" y="7827264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760" y="3497580"/>
            <a:ext cx="1028700" cy="1028700"/>
            <a:chOff x="0" y="0"/>
            <a:chExt cx="1371600" cy="1371600"/>
          </a:xfrm>
        </p:grpSpPr>
        <p:sp>
          <p:nvSpPr>
            <p:cNvPr name="Freeform 11" id="11" descr="icons_seedling_cream.png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43200" y="3566160"/>
            <a:ext cx="5760720" cy="548640"/>
            <a:chOff x="0" y="0"/>
            <a:chExt cx="76809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680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TEOR ALCOÓLICO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43200" y="4046220"/>
            <a:ext cx="5760720" cy="548640"/>
            <a:chOff x="0" y="0"/>
            <a:chExt cx="76809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680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Quanto maior, melhor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08760" y="5143500"/>
            <a:ext cx="6858000" cy="1920240"/>
            <a:chOff x="0" y="0"/>
            <a:chExt cx="9144000" cy="2560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9144000" cy="2665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Vinhos com mais álcool tendem a ter mais corpo e complexidade — e isso se reflete diretamente numa nota mais alta.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99235" y="7259955"/>
            <a:ext cx="6739890" cy="19050"/>
            <a:chOff x="0" y="0"/>
            <a:chExt cx="8986520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86520" cy="25400"/>
            </a:xfrm>
            <a:custGeom>
              <a:avLst/>
              <a:gdLst/>
              <a:ahLst/>
              <a:cxnLst/>
              <a:rect r="r" b="b" t="t" l="l"/>
              <a:pathLst>
                <a:path h="25400" w="8986520">
                  <a:moveTo>
                    <a:pt x="0" y="0"/>
                  </a:moveTo>
                  <a:lnTo>
                    <a:pt x="898652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843806" r="0" b="-6843806"/>
              </a:stretch>
            </a:blipFill>
            <a:ln w="19050" cap="sq">
              <a:solidFill>
                <a:srgbClr val="A2676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508760" y="7543800"/>
            <a:ext cx="6858000" cy="1234440"/>
            <a:chOff x="0" y="0"/>
            <a:chExt cx="9144000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14400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i="true">
                  <a:solidFill>
                    <a:srgbClr val="C9A24B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Relação mais forte encontrada entre todas as variáveis analisadas.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89720" y="3017520"/>
            <a:ext cx="7818120" cy="6035040"/>
            <a:chOff x="0" y="0"/>
            <a:chExt cx="10424160" cy="8046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24161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4241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04704" y="0"/>
                  </a:lnTo>
                  <a:cubicBezTo>
                    <a:pt x="10325862" y="0"/>
                    <a:pt x="10424161" y="98298"/>
                    <a:pt x="10424161" y="219456"/>
                  </a:cubicBezTo>
                  <a:lnTo>
                    <a:pt x="10424161" y="7827264"/>
                  </a:lnTo>
                  <a:cubicBezTo>
                    <a:pt x="10424161" y="7948422"/>
                    <a:pt x="10325862" y="8046720"/>
                    <a:pt x="10204704" y="8046720"/>
                  </a:cubicBezTo>
                  <a:lnTo>
                    <a:pt x="219456" y="8046720"/>
                  </a:lnTo>
                  <a:cubicBezTo>
                    <a:pt x="98298" y="8046720"/>
                    <a:pt x="0" y="7948422"/>
                    <a:pt x="0" y="7827264"/>
                  </a:cubicBez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738360" y="3497580"/>
            <a:ext cx="1028700" cy="1028700"/>
            <a:chOff x="0" y="0"/>
            <a:chExt cx="1371600" cy="1371600"/>
          </a:xfrm>
        </p:grpSpPr>
        <p:sp>
          <p:nvSpPr>
            <p:cNvPr name="Freeform 29" id="29" descr="icons_warning_rose.png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972800" y="3566160"/>
            <a:ext cx="5760720" cy="548640"/>
            <a:chOff x="0" y="0"/>
            <a:chExt cx="76809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680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A267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ACIDEZ VOLÁTIL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2800" y="4046220"/>
            <a:ext cx="5760720" cy="548640"/>
            <a:chOff x="0" y="0"/>
            <a:chExt cx="76809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680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Quanto menor, melhor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738360" y="5143500"/>
            <a:ext cx="6858000" cy="1920240"/>
            <a:chOff x="0" y="0"/>
            <a:chExt cx="9144000" cy="25603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04775"/>
              <a:ext cx="9144000" cy="2665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3A1F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Níveis altos indicam gosto e cheiro de vinagre — um defeito claro que reduz fortemente a avaliação do vinho.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728835" y="7259955"/>
            <a:ext cx="6739890" cy="19050"/>
            <a:chOff x="0" y="0"/>
            <a:chExt cx="8986520" cy="25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986520" cy="25400"/>
            </a:xfrm>
            <a:custGeom>
              <a:avLst/>
              <a:gdLst/>
              <a:ahLst/>
              <a:cxnLst/>
              <a:rect r="r" b="b" t="t" l="l"/>
              <a:pathLst>
                <a:path h="25400" w="8986520">
                  <a:moveTo>
                    <a:pt x="0" y="0"/>
                  </a:moveTo>
                  <a:lnTo>
                    <a:pt x="898652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843806" r="0" b="-6843806"/>
              </a:stretch>
            </a:blipFill>
            <a:ln w="19050" cap="sq">
              <a:solidFill>
                <a:srgbClr val="A26769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738360" y="7543800"/>
            <a:ext cx="6858000" cy="1234440"/>
            <a:chOff x="0" y="0"/>
            <a:chExt cx="9144000" cy="1645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914400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i="true">
                  <a:solidFill>
                    <a:srgbClr val="6D2E46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Segundo fator de maior impacto, e o principal sinal de alerta de qualidade.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822960"/>
            <a:ext cx="10972800" cy="685800"/>
            <a:chOff x="0" y="0"/>
            <a:chExt cx="14630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NOSSA ABORDAGEM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5773400" cy="1508760"/>
            <a:chOff x="0" y="0"/>
            <a:chExt cx="21031200" cy="2011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03120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81"/>
                </a:lnSpc>
              </a:pPr>
              <a:r>
                <a:rPr lang="en-US" sz="39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Testamos três modelos de Machine Learning</a:t>
              </a:r>
            </a:p>
            <a:p>
              <a:pPr algn="l">
                <a:lnSpc>
                  <a:spcPts val="5381"/>
                </a:lnSpc>
              </a:pPr>
              <a:r>
                <a:rPr lang="en-US" sz="39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para chegar ao mais confiável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429000"/>
            <a:ext cx="5280660" cy="4869180"/>
            <a:chOff x="0" y="0"/>
            <a:chExt cx="7040880" cy="649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6309360"/>
                  </a:lnTo>
                  <a:cubicBezTo>
                    <a:pt x="7040880" y="6410325"/>
                    <a:pt x="6958965" y="6492240"/>
                    <a:pt x="68580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80360" y="3909060"/>
            <a:ext cx="1440180" cy="1440180"/>
            <a:chOff x="0" y="0"/>
            <a:chExt cx="1920240" cy="192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223260" y="4251960"/>
            <a:ext cx="754380" cy="754380"/>
            <a:chOff x="0" y="0"/>
            <a:chExt cx="1005840" cy="1005840"/>
          </a:xfrm>
        </p:grpSpPr>
        <p:sp>
          <p:nvSpPr>
            <p:cNvPr name="Freeform 13" id="13" descr="icons_chartLine_berry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5692140"/>
            <a:ext cx="4594860" cy="822960"/>
            <a:chOff x="0" y="0"/>
            <a:chExt cx="61264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26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126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Regressão Logística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6515100"/>
            <a:ext cx="4457700" cy="1645920"/>
            <a:chOff x="0" y="0"/>
            <a:chExt cx="594360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1" r="0" b="-277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94360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2"/>
                </a:lnSpc>
              </a:pPr>
              <a:r>
                <a:rPr lang="en-US" sz="1875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Abordagem simples e transparente, usada como ponto de partida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52260" y="3429000"/>
            <a:ext cx="5280660" cy="4869180"/>
            <a:chOff x="0" y="0"/>
            <a:chExt cx="7040880" cy="649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408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6309360"/>
                  </a:lnTo>
                  <a:cubicBezTo>
                    <a:pt x="7040880" y="6410325"/>
                    <a:pt x="6958965" y="6492240"/>
                    <a:pt x="68580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0" y="3909060"/>
            <a:ext cx="1440180" cy="1440180"/>
            <a:chOff x="0" y="0"/>
            <a:chExt cx="1920240" cy="1920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15400" y="4251960"/>
            <a:ext cx="754380" cy="754380"/>
            <a:chOff x="0" y="0"/>
            <a:chExt cx="1005840" cy="1005840"/>
          </a:xfrm>
        </p:grpSpPr>
        <p:sp>
          <p:nvSpPr>
            <p:cNvPr name="Freeform 25" id="25" descr="icons_layers_berry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95160" y="5692140"/>
            <a:ext cx="4594860" cy="822960"/>
            <a:chOff x="0" y="0"/>
            <a:chExt cx="61264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26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1264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Random Forest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63740" y="6515100"/>
            <a:ext cx="4457700" cy="1645920"/>
            <a:chOff x="0" y="0"/>
            <a:chExt cx="5943600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1" r="0" b="-277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94360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2"/>
                </a:lnSpc>
              </a:pPr>
              <a:r>
                <a:rPr lang="en-US" sz="1875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Combina centenas de "árvores de decisão" para um resultado mais robusto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44400" y="3429000"/>
            <a:ext cx="5280660" cy="4869180"/>
            <a:chOff x="0" y="0"/>
            <a:chExt cx="7040880" cy="6492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408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6309360"/>
                  </a:lnTo>
                  <a:cubicBezTo>
                    <a:pt x="7040880" y="6410325"/>
                    <a:pt x="6958965" y="6492240"/>
                    <a:pt x="68580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264640" y="3909060"/>
            <a:ext cx="1440180" cy="1440180"/>
            <a:chOff x="0" y="0"/>
            <a:chExt cx="1920240" cy="1920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607540" y="4251960"/>
            <a:ext cx="754380" cy="754380"/>
            <a:chOff x="0" y="0"/>
            <a:chExt cx="1005840" cy="1005840"/>
          </a:xfrm>
        </p:grpSpPr>
        <p:sp>
          <p:nvSpPr>
            <p:cNvPr name="Freeform 37" id="37" descr="icons_robot_berry.png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752070" y="5863590"/>
            <a:ext cx="4594860" cy="898213"/>
            <a:chOff x="0" y="0"/>
            <a:chExt cx="6126480" cy="119761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26480" cy="1197618"/>
            </a:xfrm>
            <a:custGeom>
              <a:avLst/>
              <a:gdLst/>
              <a:ahLst/>
              <a:cxnLst/>
              <a:rect r="r" b="b" t="t" l="l"/>
              <a:pathLst>
                <a:path h="1197618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197618"/>
                  </a:lnTo>
                  <a:lnTo>
                    <a:pt x="0" y="11976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65" r="0" b="-454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126480" cy="12166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Gradient Boosting</a:t>
              </a:r>
            </a:p>
            <a:p>
              <a:pPr algn="ctr">
                <a:lnSpc>
                  <a:spcPts val="3168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55880" y="6515100"/>
            <a:ext cx="4457700" cy="1645920"/>
            <a:chOff x="0" y="0"/>
            <a:chExt cx="5943600" cy="2194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4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1" r="0" b="-277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594360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2"/>
                </a:lnSpc>
              </a:pPr>
              <a:r>
                <a:rPr lang="en-US" sz="1875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Aprende com os próprios erros, refinando a previsão passo a passo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8700" y="8709660"/>
            <a:ext cx="548640" cy="548640"/>
            <a:chOff x="0" y="0"/>
            <a:chExt cx="731520" cy="731520"/>
          </a:xfrm>
        </p:grpSpPr>
        <p:sp>
          <p:nvSpPr>
            <p:cNvPr name="Freeform 45" id="45" descr="icons_flask_cream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783080" y="8668512"/>
            <a:ext cx="15499080" cy="822960"/>
            <a:chOff x="0" y="0"/>
            <a:chExt cx="2066544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6654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968" r="0" b="-31696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06654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i="true">
                  <a:solidFill>
                    <a:srgbClr val="ECE2D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Por que três modelos? Cada abordagem "enxerga" os dados de um jeito diferente — testar várias aumenta a chance de encontrar o melhor previsor possível.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822960"/>
            <a:ext cx="10972800" cy="685800"/>
            <a:chOff x="0" y="0"/>
            <a:chExt cx="14630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A267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COMO AVALIAMOS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5087600" cy="1097280"/>
            <a:chOff x="0" y="0"/>
            <a:chExt cx="201168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Uma comparação justa, com três perguntas simples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606040"/>
            <a:ext cx="15361920" cy="837943"/>
            <a:chOff x="0" y="0"/>
            <a:chExt cx="20482560" cy="11172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1117258"/>
            </a:xfrm>
            <a:custGeom>
              <a:avLst/>
              <a:gdLst/>
              <a:ahLst/>
              <a:cxnLst/>
              <a:rect r="r" b="b" t="t" l="l"/>
              <a:pathLst>
                <a:path h="111725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117258"/>
                  </a:lnTo>
                  <a:lnTo>
                    <a:pt x="0" y="11172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111" r="0" b="-3063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482560" cy="1174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3A1F28"/>
                  </a:solidFill>
                  <a:latin typeface="Open Sans"/>
                  <a:ea typeface="Open Sans"/>
                  <a:cs typeface="Open Sans"/>
                  <a:sym typeface="Open Sans"/>
                </a:rPr>
                <a:t>Todos os modelos foram testados com os mesmos vinhos — amostras que eles nunca tinham visto antes, garantindo uma comparação honesta.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3909060"/>
            <a:ext cx="5280660" cy="4869180"/>
            <a:chOff x="0" y="0"/>
            <a:chExt cx="7040880" cy="6492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08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6309360"/>
                  </a:lnTo>
                  <a:cubicBezTo>
                    <a:pt x="7040880" y="6410325"/>
                    <a:pt x="6958965" y="6492240"/>
                    <a:pt x="68580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0180" y="4389120"/>
            <a:ext cx="891540" cy="891540"/>
            <a:chOff x="0" y="0"/>
            <a:chExt cx="1188720" cy="1188720"/>
          </a:xfrm>
        </p:grpSpPr>
        <p:sp>
          <p:nvSpPr>
            <p:cNvPr name="Freeform 14" id="14" descr="icons_bullseye_berry.png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5486400"/>
            <a:ext cx="4457700" cy="1028700"/>
            <a:chOff x="0" y="0"/>
            <a:chExt cx="594360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94360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250" b="true">
                  <a:solidFill>
                    <a:srgbClr val="6D2E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Acerto Geral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6515100"/>
            <a:ext cx="4457700" cy="2057400"/>
            <a:chOff x="0" y="0"/>
            <a:chExt cx="5943600" cy="274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43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943600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3A1F28"/>
                  </a:solidFill>
                  <a:latin typeface="Open Sans"/>
                  <a:ea typeface="Open Sans"/>
                  <a:cs typeface="Open Sans"/>
                  <a:sym typeface="Open Sans"/>
                </a:rPr>
                <a:t>De todos os vinhos testados, quantos o modelo classificou corretamente?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52260" y="3909060"/>
            <a:ext cx="5280660" cy="4869180"/>
            <a:chOff x="0" y="0"/>
            <a:chExt cx="7040880" cy="6492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08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6309360"/>
                  </a:lnTo>
                  <a:cubicBezTo>
                    <a:pt x="7040880" y="6410325"/>
                    <a:pt x="6958965" y="6492240"/>
                    <a:pt x="68580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132320" y="4389120"/>
            <a:ext cx="891540" cy="891540"/>
            <a:chOff x="0" y="0"/>
            <a:chExt cx="1188720" cy="1188720"/>
          </a:xfrm>
        </p:grpSpPr>
        <p:sp>
          <p:nvSpPr>
            <p:cNvPr name="Freeform 24" id="24" descr="icons_checkCircle_berry.png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063740" y="5486400"/>
            <a:ext cx="4457700" cy="1028700"/>
            <a:chOff x="0" y="0"/>
            <a:chExt cx="594360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94360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250" b="true">
                  <a:solidFill>
                    <a:srgbClr val="6D2E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Confiabilidade da Indicação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063740" y="6515100"/>
            <a:ext cx="4457700" cy="2057400"/>
            <a:chOff x="0" y="0"/>
            <a:chExt cx="5943600" cy="2743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3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943600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3A1F28"/>
                  </a:solidFill>
                  <a:latin typeface="Open Sans"/>
                  <a:ea typeface="Open Sans"/>
                  <a:cs typeface="Open Sans"/>
                  <a:sym typeface="Open Sans"/>
                </a:rPr>
                <a:t>Quando o modelo aponta um vinho como "alta qualidade", ele está certo com que frequência?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0" y="3909060"/>
            <a:ext cx="5280660" cy="4869180"/>
            <a:chOff x="0" y="0"/>
            <a:chExt cx="7040880" cy="6492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408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6309360"/>
                  </a:lnTo>
                  <a:cubicBezTo>
                    <a:pt x="7040880" y="6410325"/>
                    <a:pt x="6958965" y="6492240"/>
                    <a:pt x="68580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ECE2D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24460" y="4389120"/>
            <a:ext cx="891540" cy="891540"/>
            <a:chOff x="0" y="0"/>
            <a:chExt cx="1188720" cy="1188720"/>
          </a:xfrm>
        </p:grpSpPr>
        <p:sp>
          <p:nvSpPr>
            <p:cNvPr name="Freeform 34" id="34" descr="icons_search_berry.png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755880" y="5486400"/>
            <a:ext cx="4457700" cy="1028700"/>
            <a:chOff x="0" y="0"/>
            <a:chExt cx="594360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4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94360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250" b="true">
                  <a:solidFill>
                    <a:srgbClr val="6D2E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Capacidade de Encontrar os Bons Vinhos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755880" y="6515100"/>
            <a:ext cx="4457700" cy="2057400"/>
            <a:chOff x="0" y="0"/>
            <a:chExt cx="5943600" cy="2743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943600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3A1F28"/>
                  </a:solidFill>
                  <a:latin typeface="Open Sans"/>
                  <a:ea typeface="Open Sans"/>
                  <a:cs typeface="Open Sans"/>
                  <a:sym typeface="Open Sans"/>
                </a:rPr>
                <a:t>De todos os vinhos realmente bons, quantos o modelo conseguiu identificar?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342900"/>
            <a:ext cx="10972800" cy="685800"/>
            <a:chOff x="0" y="0"/>
            <a:chExt cx="146304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A267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805275"/>
            <a:ext cx="16729492" cy="1097280"/>
            <a:chOff x="0" y="0"/>
            <a:chExt cx="2230599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0598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05989">
                  <a:moveTo>
                    <a:pt x="0" y="0"/>
                  </a:moveTo>
                  <a:lnTo>
                    <a:pt x="22305989" y="0"/>
                  </a:lnTo>
                  <a:lnTo>
                    <a:pt x="2230598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3255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30599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0"/>
                </a:lnSpc>
              </a:pPr>
              <a:r>
                <a:rPr lang="en-US" sz="315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Random Forest foi o mais equilibrado</a:t>
              </a:r>
              <a:r>
                <a:rPr lang="en-US" sz="315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— mas cada modelo tem um ponto forte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576995" y="340293"/>
            <a:ext cx="21268228" cy="1092277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397109" y="9427845"/>
            <a:ext cx="147325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Acerto Geral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96314" y="9437370"/>
            <a:ext cx="32571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Confiabilidade da Indicação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49164" y="9437370"/>
            <a:ext cx="30344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Encontrar os Bons Vinhos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822960"/>
            <a:ext cx="12344400" cy="685800"/>
            <a:chOff x="0" y="0"/>
            <a:chExt cx="164592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 NA PRÁTICA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5087600" cy="1097280"/>
            <a:chOff x="0" y="0"/>
            <a:chExt cx="201168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que o modelo vencedor entrega, na prática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606040"/>
            <a:ext cx="15361920" cy="685800"/>
            <a:chOff x="0" y="0"/>
            <a:chExt cx="2048256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914400"/>
            </a:xfrm>
            <a:custGeom>
              <a:avLst/>
              <a:gdLst/>
              <a:ahLst/>
              <a:cxnLst/>
              <a:rect r="r" b="b" t="t" l="l"/>
              <a:pathLst>
                <a:path h="9144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464" r="0" b="-3864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4825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Considerando o desempenho do Random Forest, a cada 100 vinhos avaliados pelo modelo: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3703320"/>
            <a:ext cx="5074920" cy="4937760"/>
            <a:chOff x="0" y="0"/>
            <a:chExt cx="6766560" cy="6583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665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6400800"/>
                  </a:lnTo>
                  <a:cubicBezTo>
                    <a:pt x="6766560" y="6501765"/>
                    <a:pt x="6684645" y="6583680"/>
                    <a:pt x="658368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0120" y="4183380"/>
            <a:ext cx="5074920" cy="1645920"/>
            <a:chOff x="0" y="0"/>
            <a:chExt cx="676656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76656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3020" y="5829300"/>
            <a:ext cx="4389120" cy="2468880"/>
            <a:chOff x="0" y="0"/>
            <a:chExt cx="5852160" cy="3291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521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852160" cy="3358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vinhos são</a:t>
              </a:r>
            </a:p>
            <a:p>
              <a:pPr algn="ctr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classificados corretamente</a:t>
              </a:r>
            </a:p>
            <a:p>
              <a:pPr algn="ctr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(acerto geral)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77940" y="3703320"/>
            <a:ext cx="5074920" cy="4937760"/>
            <a:chOff x="0" y="0"/>
            <a:chExt cx="6766560" cy="6583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665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6400800"/>
                  </a:lnTo>
                  <a:cubicBezTo>
                    <a:pt x="6766560" y="6501765"/>
                    <a:pt x="6684645" y="6583680"/>
                    <a:pt x="658368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377940" y="4183380"/>
            <a:ext cx="5074920" cy="1645920"/>
            <a:chOff x="0" y="0"/>
            <a:chExt cx="6766560" cy="219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76656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20840" y="5829300"/>
            <a:ext cx="4389120" cy="2468880"/>
            <a:chOff x="0" y="0"/>
            <a:chExt cx="5852160" cy="3291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521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5852160" cy="3358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em cada 100 indicações de</a:t>
              </a:r>
            </a:p>
            <a:p>
              <a:pPr algn="ctr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"alta qualidade" estão certas</a:t>
              </a:r>
            </a:p>
            <a:p>
              <a:pPr algn="ctr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(confiabilidade)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95760" y="3703320"/>
            <a:ext cx="5074920" cy="4937760"/>
            <a:chOff x="0" y="0"/>
            <a:chExt cx="6766560" cy="6583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665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6400800"/>
                  </a:lnTo>
                  <a:cubicBezTo>
                    <a:pt x="6766560" y="6501765"/>
                    <a:pt x="6684645" y="6583680"/>
                    <a:pt x="658368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795760" y="4183380"/>
            <a:ext cx="5074920" cy="1645920"/>
            <a:chOff x="0" y="0"/>
            <a:chExt cx="6766560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76656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C9A2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38660" y="5829300"/>
            <a:ext cx="4389120" cy="2468880"/>
            <a:chOff x="0" y="0"/>
            <a:chExt cx="5852160" cy="3291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5852160" cy="3358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dos vinhos realmente bons</a:t>
              </a:r>
            </a:p>
            <a:p>
              <a:pPr algn="ctr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são identificados pelo modelo</a:t>
              </a:r>
            </a:p>
            <a:p>
              <a:pPr algn="ctr">
                <a:lnSpc>
                  <a:spcPts val="2925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(cobertura)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822960"/>
            <a:ext cx="12344400" cy="685800"/>
            <a:chOff x="0" y="0"/>
            <a:chExt cx="164592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A267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QUE O MODELO APRENDEU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5087600" cy="1097280"/>
            <a:chOff x="0" y="0"/>
            <a:chExt cx="201168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3A1F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modelo confirma o que a análise já indicava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606040"/>
            <a:ext cx="15087600" cy="685800"/>
            <a:chOff x="0" y="0"/>
            <a:chExt cx="201168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116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1F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Fatores que mais pesaram na decisão da Floresta de Decisão ao classificar um vinho: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694388" y="1814497"/>
            <a:ext cx="19854094" cy="93554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822960"/>
            <a:ext cx="12344400" cy="685800"/>
            <a:chOff x="0" y="0"/>
            <a:chExt cx="164592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300">
                  <a:solidFill>
                    <a:srgbClr val="C9A2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IMPLICAÇÕES PARA O NEGÓCIO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5087600" cy="1097280"/>
            <a:chOff x="0" y="0"/>
            <a:chExt cx="201168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 que isso significa na prática para a produção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948940"/>
            <a:ext cx="5280660" cy="6172200"/>
            <a:chOff x="0" y="0"/>
            <a:chExt cx="7040880" cy="822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8046720"/>
                  </a:lnTo>
                  <a:cubicBezTo>
                    <a:pt x="7040880" y="8147685"/>
                    <a:pt x="6958965" y="8229600"/>
                    <a:pt x="6858000" y="8229600"/>
                  </a:cubicBezTo>
                  <a:lnTo>
                    <a:pt x="182880" y="8229600"/>
                  </a:lnTo>
                  <a:cubicBezTo>
                    <a:pt x="81915" y="8229600"/>
                    <a:pt x="0" y="8147685"/>
                    <a:pt x="0" y="804672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120390" y="3429000"/>
            <a:ext cx="960120" cy="960120"/>
            <a:chOff x="0" y="0"/>
            <a:chExt cx="1280160" cy="1280160"/>
          </a:xfrm>
        </p:grpSpPr>
        <p:sp>
          <p:nvSpPr>
            <p:cNvPr name="Freeform 11" id="11" descr="icons_search_cream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4594860"/>
            <a:ext cx="4389120" cy="1028700"/>
            <a:chOff x="0" y="0"/>
            <a:chExt cx="5852160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52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6" r="0" b="-331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85216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400" b="true">
                  <a:solidFill>
                    <a:srgbClr val="C9A2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Monitoramento antecipado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46077" y="6215565"/>
            <a:ext cx="4389120" cy="1970671"/>
            <a:chOff x="0" y="0"/>
            <a:chExt cx="5852160" cy="26275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2627562"/>
            </a:xfrm>
            <a:custGeom>
              <a:avLst/>
              <a:gdLst/>
              <a:ahLst/>
              <a:cxnLst/>
              <a:rect r="r" b="b" t="t" l="l"/>
              <a:pathLst>
                <a:path h="262756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627562"/>
                  </a:lnTo>
                  <a:lnTo>
                    <a:pt x="0" y="2627562"/>
                  </a:lnTo>
                  <a:close/>
                </a:path>
              </a:pathLst>
            </a:custGeom>
            <a:solidFill>
              <a:srgbClr val="ECE2D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5852160" cy="27037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042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Acompanhar teor alcoólico e acidez volátil durante a produção, antes da avaliação final, permite prever problemas com antecedência.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52260" y="2948940"/>
            <a:ext cx="5280660" cy="6172200"/>
            <a:chOff x="0" y="0"/>
            <a:chExt cx="7040880" cy="822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4088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8046720"/>
                  </a:lnTo>
                  <a:cubicBezTo>
                    <a:pt x="7040880" y="8147685"/>
                    <a:pt x="6958965" y="8229600"/>
                    <a:pt x="6858000" y="8229600"/>
                  </a:cubicBezTo>
                  <a:lnTo>
                    <a:pt x="182880" y="8229600"/>
                  </a:lnTo>
                  <a:cubicBezTo>
                    <a:pt x="81915" y="8229600"/>
                    <a:pt x="0" y="8147685"/>
                    <a:pt x="0" y="804672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663940" y="3429000"/>
            <a:ext cx="960120" cy="960120"/>
            <a:chOff x="0" y="0"/>
            <a:chExt cx="1280160" cy="1280160"/>
          </a:xfrm>
        </p:grpSpPr>
        <p:sp>
          <p:nvSpPr>
            <p:cNvPr name="Freeform 21" id="21" descr="icons_industry_cream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32320" y="4594860"/>
            <a:ext cx="4389120" cy="1028700"/>
            <a:chOff x="0" y="0"/>
            <a:chExt cx="585216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6" r="0" b="-331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85216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400" b="true">
                  <a:solidFill>
                    <a:srgbClr val="C9A2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Ajustes no processo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32320" y="5623560"/>
            <a:ext cx="4389120" cy="3154680"/>
            <a:chOff x="0" y="0"/>
            <a:chExt cx="5852160" cy="4206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52160" cy="4206240"/>
            </a:xfrm>
            <a:custGeom>
              <a:avLst/>
              <a:gdLst/>
              <a:ahLst/>
              <a:cxnLst/>
              <a:rect r="r" b="b" t="t" l="l"/>
              <a:pathLst>
                <a:path h="42062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18" t="0" r="-4221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5852160" cy="428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42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Lotes com sinais de baixa qualidade podem ser corrigidos ainda durante a vinificação, reduzindo perdas.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0" y="2948940"/>
            <a:ext cx="5280660" cy="6172200"/>
            <a:chOff x="0" y="0"/>
            <a:chExt cx="7040880" cy="822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4088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8046720"/>
                  </a:lnTo>
                  <a:cubicBezTo>
                    <a:pt x="7040880" y="8147685"/>
                    <a:pt x="6958965" y="8229600"/>
                    <a:pt x="6858000" y="8229600"/>
                  </a:cubicBezTo>
                  <a:lnTo>
                    <a:pt x="182880" y="8229600"/>
                  </a:lnTo>
                  <a:cubicBezTo>
                    <a:pt x="81915" y="8229600"/>
                    <a:pt x="0" y="8147685"/>
                    <a:pt x="0" y="8046720"/>
                  </a:cubicBezTo>
                  <a:close/>
                </a:path>
              </a:pathLst>
            </a:custGeom>
            <a:solidFill>
              <a:srgbClr val="6D2E4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504670" y="3429000"/>
            <a:ext cx="960120" cy="960120"/>
            <a:chOff x="0" y="0"/>
            <a:chExt cx="1280160" cy="1280160"/>
          </a:xfrm>
        </p:grpSpPr>
        <p:sp>
          <p:nvSpPr>
            <p:cNvPr name="Freeform 31" id="31" descr="icons_lightbulb_cream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824460" y="4594860"/>
            <a:ext cx="4389120" cy="1028700"/>
            <a:chOff x="0" y="0"/>
            <a:chExt cx="5852160" cy="1371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6" r="0" b="-3313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85216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400" b="true">
                  <a:solidFill>
                    <a:srgbClr val="C9A24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Decisão mais rápida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824460" y="5623560"/>
            <a:ext cx="4389120" cy="3154680"/>
            <a:chOff x="0" y="0"/>
            <a:chExt cx="5852160" cy="4206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4206240"/>
            </a:xfrm>
            <a:custGeom>
              <a:avLst/>
              <a:gdLst/>
              <a:ahLst/>
              <a:cxnLst/>
              <a:rect r="r" b="b" t="t" l="l"/>
              <a:pathLst>
                <a:path h="42062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18" t="0" r="-4221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5852160" cy="428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42"/>
                </a:lnSpc>
              </a:pPr>
              <a:r>
                <a:rPr lang="en-US" sz="1950">
                  <a:solidFill>
                    <a:srgbClr val="ECE2D0"/>
                  </a:solidFill>
                  <a:latin typeface="Open Sans"/>
                  <a:ea typeface="Open Sans"/>
                  <a:cs typeface="Open Sans"/>
                  <a:sym typeface="Open Sans"/>
                </a:rPr>
                <a:t>O modelo apoia — não substitui — o enólogo, agilizando decisões que hoje dependem só da degustação final.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34290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6D2E46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92440" y="1577340"/>
            <a:ext cx="2057400" cy="2057400"/>
            <a:chOff x="0" y="0"/>
            <a:chExt cx="2743200" cy="2743200"/>
          </a:xfrm>
        </p:grpSpPr>
        <p:sp>
          <p:nvSpPr>
            <p:cNvPr name="Freeform 5" id="5" descr="icons_wineGlass_cream.png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4114800"/>
            <a:ext cx="14127480" cy="1920240"/>
            <a:chOff x="0" y="0"/>
            <a:chExt cx="18836640" cy="2560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36639" cy="2560320"/>
            </a:xfrm>
            <a:custGeom>
              <a:avLst/>
              <a:gdLst/>
              <a:ahLst/>
              <a:cxnLst/>
              <a:rect r="r" b="b" t="t" l="l"/>
              <a:pathLst>
                <a:path h="256032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354" r="0" b="-933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8836640" cy="2636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 degustação subjetiva</a:t>
              </a:r>
            </a:p>
            <a:p>
              <a:pPr algn="ctr">
                <a:lnSpc>
                  <a:spcPts val="6209"/>
                </a:lnSpc>
              </a:pPr>
              <a:r>
                <a:rPr lang="en-US" sz="4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à decisão orientada por dados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31618" y="6299835"/>
            <a:ext cx="10024764" cy="1234440"/>
            <a:chOff x="0" y="0"/>
            <a:chExt cx="13366351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66352" cy="1645920"/>
            </a:xfrm>
            <a:custGeom>
              <a:avLst/>
              <a:gdLst/>
              <a:ahLst/>
              <a:cxnLst/>
              <a:rect r="r" b="b" t="t" l="l"/>
              <a:pathLst>
                <a:path h="1645920" w="13366352">
                  <a:moveTo>
                    <a:pt x="0" y="0"/>
                  </a:moveTo>
                  <a:lnTo>
                    <a:pt x="13366352" y="0"/>
                  </a:lnTo>
                  <a:lnTo>
                    <a:pt x="1336635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025" r="-16298" b="-1340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33350"/>
              <a:ext cx="13366351" cy="177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0"/>
                </a:lnSpc>
              </a:pPr>
              <a:r>
                <a:rPr lang="en-US" sz="2250">
                  <a:solidFill>
                    <a:srgbClr val="ECE2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 modelo com mais de 90% de acerto, pronto para apoiar decisões de produção com agilidade e consistência.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58406" y="7799070"/>
            <a:ext cx="4152900" cy="38100"/>
            <a:chOff x="0" y="0"/>
            <a:chExt cx="553720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37200" cy="50800"/>
            </a:xfrm>
            <a:custGeom>
              <a:avLst/>
              <a:gdLst/>
              <a:ahLst/>
              <a:cxnLst/>
              <a:rect r="r" b="b" t="t" l="l"/>
              <a:pathLst>
                <a:path h="50800" w="5537200">
                  <a:moveTo>
                    <a:pt x="0" y="0"/>
                  </a:moveTo>
                  <a:lnTo>
                    <a:pt x="5537200" y="508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2073869" r="0" b="-2073869"/>
              </a:stretch>
            </a:blipFill>
            <a:ln w="38100" cap="sq">
              <a:solidFill>
                <a:srgbClr val="C9A24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057400" y="8092440"/>
            <a:ext cx="14127480" cy="685800"/>
            <a:chOff x="0" y="0"/>
            <a:chExt cx="1883664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836639" cy="914400"/>
            </a:xfrm>
            <a:custGeom>
              <a:avLst/>
              <a:gdLst/>
              <a:ahLst/>
              <a:cxnLst/>
              <a:rect r="r" b="b" t="t" l="l"/>
              <a:pathLst>
                <a:path h="91440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1391" r="0" b="-3513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883664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i="true">
                  <a:solidFill>
                    <a:srgbClr val="C9A2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Obrigado! 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DAHPCJOHTqg</dc:identifier>
  <dcterms:modified xsi:type="dcterms:W3CDTF">2011-08-01T06:04:30Z</dcterms:modified>
  <cp:revision>1</cp:revision>
  <dc:title>apresentacao_executiva (1).pptx</dc:title>
</cp:coreProperties>
</file>